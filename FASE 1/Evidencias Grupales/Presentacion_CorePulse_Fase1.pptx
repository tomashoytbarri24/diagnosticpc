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6D7AF1-D0FD-4DB1-AA53-920451AB5E03}">
  <a:tblStyle styleId="{366D7AF1-D0FD-4DB1-AA53-920451AB5E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568350" y="1793025"/>
            <a:ext cx="6871200" cy="13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42337"/>
                </a:solidFill>
              </a:rPr>
              <a:t>FASE 1 · EXPOSICIÓN IDEA DE PROYECTO</a:t>
            </a:r>
            <a:endParaRPr sz="2600"/>
          </a:p>
        </p:txBody>
      </p:sp>
      <p:pic>
        <p:nvPicPr>
          <p:cNvPr id="85" name="Google Shape;85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5938" y="3310772"/>
            <a:ext cx="4536010" cy="114478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387728" y="388725"/>
            <a:ext cx="202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1"/>
                </a:solidFill>
              </a:rPr>
              <a:t>PROYECTO “CorePulse”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87" name="Google Shape;87;p13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88" name="Google Shape;88;p13" title="CorePulse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25" y="144375"/>
            <a:ext cx="785350" cy="78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386700" y="5652925"/>
            <a:ext cx="3699000" cy="10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F2C45"/>
                </a:solidFill>
                <a:latin typeface="Arial"/>
              </a:rPr>
              <a:t>Equipo N° 14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800" b="0">
                <a:solidFill>
                  <a:srgbClr val="1F2C45"/>
                </a:solidFill>
                <a:latin typeface="Arial"/>
              </a:rPr>
              <a:t>Maximiliano Carrasco.</a:t>
            </a:r>
          </a:p>
          <a:p>
            <a:r>
              <a:rPr sz="1800" b="0">
                <a:solidFill>
                  <a:srgbClr val="1F2C45"/>
                </a:solidFill>
                <a:latin typeface="Arial"/>
              </a:rPr>
              <a:t>Tomás Hoyt.</a:t>
            </a: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6" name="Google Shape;96;p14"/>
          <p:cNvSpPr txBox="1"/>
          <p:nvPr/>
        </p:nvSpPr>
        <p:spPr>
          <a:xfrm>
            <a:off x="411480" y="256032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INTEGRANTES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DEL PROYECTO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4233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Equipo confirmado: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42337"/>
                </a:solidFill>
                <a:latin typeface="Arial"/>
                <a:ea typeface="Arial"/>
                <a:cs typeface="Arial"/>
                <a:sym typeface="Arial"/>
              </a:rPr>
              <a:t>2 integrantes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3840480" y="1691640"/>
            <a:ext cx="7498079" cy="141732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2C45"/>
                </a:solidFill>
                <a:latin typeface="Arial"/>
              </a:rPr>
              <a:t>Tomás Hoyt</a:t>
            </a:r>
            <a:endParaRPr/>
          </a:p>
          <a:p>
            <a:pPr>
              <a:spcAft>
                <a:spcPts val="200"/>
              </a:spcAft>
            </a:pPr>
            <a:endParaRPr/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Integrante 1 · Coordinación técnica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Arquitectura, telemetría real, IA/PDF, versiones, pruebas y rollback.</a:t>
            </a:r>
          </a:p>
        </p:txBody>
      </p:sp>
      <p:sp>
        <p:nvSpPr>
          <p:cNvPr id="98" name="Google Shape;98;p14"/>
          <p:cNvSpPr/>
          <p:nvPr/>
        </p:nvSpPr>
        <p:spPr>
          <a:xfrm>
            <a:off x="3840480" y="3611880"/>
            <a:ext cx="7498079" cy="141732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2C45"/>
                </a:solidFill>
                <a:latin typeface="Arial"/>
              </a:rPr>
              <a:t>Maximiliano Carrasco</a:t>
            </a:r>
            <a:endParaRPr/>
          </a:p>
          <a:p>
            <a:pPr>
              <a:spcAft>
                <a:spcPts val="200"/>
              </a:spcAft>
            </a:pPr>
            <a:endParaRPr/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Integrante 2 · Apoyo técnico/documental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Interfaz, documentación, evidencias, validación funcional y exposición.</a:t>
            </a:r>
          </a:p>
        </p:txBody>
      </p:sp>
      <p:sp>
        <p:nvSpPr>
          <p:cNvPr id="99" name="Google Shape;99;p14"/>
          <p:cNvSpPr txBox="1"/>
          <p:nvPr/>
        </p:nvSpPr>
        <p:spPr>
          <a:xfrm>
            <a:off x="1387730" y="388728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1"/>
                </a:solidFill>
              </a:rPr>
              <a:t>PROYECTO “CorePulse”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00" name="Google Shape;100;p1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1" name="Google Shape;101;p14" title="CorePulse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25" y="144375"/>
            <a:ext cx="785350" cy="7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387730" y="388728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1"/>
                </a:solidFill>
              </a:rPr>
              <a:t>PROYECTO “CorePulse”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08" name="Google Shape;108;p1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9" name="Google Shape;109;p15"/>
          <p:cNvSpPr txBox="1"/>
          <p:nvPr/>
        </p:nvSpPr>
        <p:spPr>
          <a:xfrm>
            <a:off x="4571425" y="1003325"/>
            <a:ext cx="274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42337"/>
                </a:solidFill>
              </a:rPr>
              <a:t>Descripción del proyecto</a:t>
            </a:r>
            <a:endParaRPr b="1"/>
          </a:p>
        </p:txBody>
      </p:sp>
      <p:sp>
        <p:nvSpPr>
          <p:cNvPr id="110" name="Google Shape;110;p15"/>
          <p:cNvSpPr/>
          <p:nvPr/>
        </p:nvSpPr>
        <p:spPr>
          <a:xfrm>
            <a:off x="446025" y="1709125"/>
            <a:ext cx="4873800" cy="36489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sz="1500" b="1">
                <a:solidFill>
                  <a:srgbClr val="1F2C45"/>
                </a:solidFill>
                <a:latin typeface="Arial"/>
              </a:rPr>
              <a:t>Problema o dolor</a:t>
            </a:r>
            <a:endParaRPr sz="1300" b="1">
              <a:solidFill>
                <a:schemeClr val="dk1"/>
              </a:solidFill>
            </a:endParaRPr>
          </a:p>
          <a:p>
            <a:pPr>
              <a:spcAft>
                <a:spcPts val="200"/>
              </a:spcAft>
            </a:pPr>
            <a:endParaRPr sz="1300" b="1">
              <a:solidFill>
                <a:schemeClr val="dk1"/>
              </a:solidFill>
            </a:endParaRP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1F2C45"/>
                </a:solidFill>
                <a:latin typeface="Arial"/>
              </a:rPr>
              <a:t>Diagnosticar un computador exige usar herramientas separadas para sensores, discos, red, FPS, limpieza y energía.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1F2C45"/>
                </a:solidFill>
                <a:latin typeface="Arial"/>
              </a:rPr>
              <a:t>Muchos usuarios no interpretan métricas técnicas ni distinguen datos reales de valores estimados.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1F2C45"/>
                </a:solidFill>
                <a:latin typeface="Arial"/>
              </a:rPr>
              <a:t>Algunos optimizadores aplican cambios sin explicar impacto ni garantizar restauración.</a:t>
            </a:r>
          </a:p>
        </p:txBody>
      </p:sp>
      <p:sp>
        <p:nvSpPr>
          <p:cNvPr id="111" name="Google Shape;111;p15"/>
          <p:cNvSpPr/>
          <p:nvPr/>
        </p:nvSpPr>
        <p:spPr>
          <a:xfrm>
            <a:off x="5993350" y="1709125"/>
            <a:ext cx="5095500" cy="36489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1F2C45"/>
                </a:solidFill>
                <a:latin typeface="Arial"/>
              </a:rPr>
              <a:t>Propuesta de solución</a:t>
            </a:r>
            <a:endParaRPr sz="1200" b="1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200" b="1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1F2C45"/>
                </a:solidFill>
                <a:latin typeface="Arial"/>
              </a:rPr>
              <a:t>CorePulse centraliza monitoreo, diagnóstico, Gaming, Tweaks reversibles, reparación de Windows e informe PDF.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1F2C45"/>
                </a:solidFill>
                <a:latin typeface="Arial"/>
              </a:rPr>
              <a:t>La IA interpreta evidencia ya validada y entrega recomendaciones comprensibles, sin reemplazar sensores.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1F2C45"/>
                </a:solidFill>
                <a:latin typeface="Arial"/>
              </a:rPr>
              <a:t>Política técnica: dato real o N/A; FPS real o N/A; cambios con snapshot, verificación y rollback.</a:t>
            </a:r>
          </a:p>
        </p:txBody>
      </p:sp>
      <p:pic>
        <p:nvPicPr>
          <p:cNvPr id="112" name="Google Shape;112;p15" title="CorePulse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25" y="144375"/>
            <a:ext cx="785350" cy="7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9" name="Google Shape;119;p16"/>
          <p:cNvSpPr txBox="1"/>
          <p:nvPr/>
        </p:nvSpPr>
        <p:spPr>
          <a:xfrm>
            <a:off x="3686253" y="1456950"/>
            <a:ext cx="4819493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 err="1">
                <a:solidFill>
                  <a:srgbClr val="1F2C45"/>
                </a:solidFill>
                <a:latin typeface="Arial"/>
              </a:rPr>
              <a:t>Relevancia</a:t>
            </a:r>
            <a:r>
              <a:rPr sz="2000" b="1" dirty="0">
                <a:solidFill>
                  <a:srgbClr val="1F2C45"/>
                </a:solidFill>
                <a:latin typeface="Arial"/>
              </a:rPr>
              <a:t>, </a:t>
            </a:r>
            <a:r>
              <a:rPr sz="2000" b="1" dirty="0" err="1">
                <a:solidFill>
                  <a:srgbClr val="1F2C45"/>
                </a:solidFill>
                <a:latin typeface="Arial"/>
              </a:rPr>
              <a:t>competencias</a:t>
            </a:r>
            <a:r>
              <a:rPr sz="2000" b="1" dirty="0">
                <a:solidFill>
                  <a:srgbClr val="1F2C45"/>
                </a:solidFill>
                <a:latin typeface="Arial"/>
              </a:rPr>
              <a:t> e </a:t>
            </a:r>
            <a:r>
              <a:rPr sz="2000" b="1" dirty="0" err="1">
                <a:solidFill>
                  <a:srgbClr val="1F2C45"/>
                </a:solidFill>
                <a:latin typeface="Arial"/>
              </a:rPr>
              <a:t>intereses</a:t>
            </a:r>
            <a:endParaRPr b="1" dirty="0"/>
          </a:p>
        </p:txBody>
      </p:sp>
      <p:sp>
        <p:nvSpPr>
          <p:cNvPr id="120" name="Google Shape;120;p16"/>
          <p:cNvSpPr/>
          <p:nvPr/>
        </p:nvSpPr>
        <p:spPr>
          <a:xfrm>
            <a:off x="731525" y="2353475"/>
            <a:ext cx="3246000" cy="23319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2C45"/>
                </a:solidFill>
                <a:latin typeface="Arial"/>
              </a:rPr>
              <a:t>Campo laboral</a:t>
            </a: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Aporta a soporte técnico, mantenimiento preventivo y diagnóstico basado en evidencia.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Permite priorizar acciones: limpiar, reparar, optimizar, actualizar o documentar fallas.</a:t>
            </a:r>
          </a:p>
        </p:txBody>
      </p:sp>
      <p:sp>
        <p:nvSpPr>
          <p:cNvPr id="121" name="Google Shape;121;p16"/>
          <p:cNvSpPr/>
          <p:nvPr/>
        </p:nvSpPr>
        <p:spPr>
          <a:xfrm>
            <a:off x="4396275" y="2353475"/>
            <a:ext cx="3246000" cy="23319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2C45"/>
                </a:solidFill>
                <a:latin typeface="Arial"/>
              </a:rPr>
              <a:t>Competencias del perfil</a:t>
            </a: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Desarrollo de software modular.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Pruebas y certificación de producto.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Gestión de proyecto informático.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Modelos de datos para historial, diagnósticos y rollback.</a:t>
            </a:r>
          </a:p>
        </p:txBody>
      </p:sp>
      <p:sp>
        <p:nvSpPr>
          <p:cNvPr id="122" name="Google Shape;122;p16"/>
          <p:cNvSpPr/>
          <p:nvPr/>
        </p:nvSpPr>
        <p:spPr>
          <a:xfrm>
            <a:off x="8137750" y="2353475"/>
            <a:ext cx="3246000" cy="23319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2C45"/>
                </a:solidFill>
                <a:latin typeface="Arial"/>
              </a:rPr>
              <a:t>Intereses profesionales</a:t>
            </a: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Desarrollo de software, hardware, rendimiento de Windows, gaming, IA aplicada y experiencia de usuario.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El proyecto deja un producto demostrable para portafolio y defensa técnica.</a:t>
            </a:r>
          </a:p>
        </p:txBody>
      </p:sp>
      <p:sp>
        <p:nvSpPr>
          <p:cNvPr id="123" name="Google Shape;123;p16"/>
          <p:cNvSpPr txBox="1"/>
          <p:nvPr/>
        </p:nvSpPr>
        <p:spPr>
          <a:xfrm>
            <a:off x="1387730" y="388728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1"/>
                </a:solidFill>
              </a:rPr>
              <a:t>PROYECTO “CorePulse”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24" name="Google Shape;124;p16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5" name="Google Shape;125;p16" title="CorePulse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25" y="144375"/>
            <a:ext cx="785350" cy="7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1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2" name="Google Shape;132;p17"/>
          <p:cNvSpPr txBox="1"/>
          <p:nvPr/>
        </p:nvSpPr>
        <p:spPr>
          <a:xfrm>
            <a:off x="4936129" y="1123787"/>
            <a:ext cx="1902334" cy="3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rgbClr val="142337"/>
                </a:solidFill>
              </a:rPr>
              <a:t>Objetivos</a:t>
            </a:r>
            <a:r>
              <a:rPr lang="en-US" sz="1200" b="1" dirty="0">
                <a:solidFill>
                  <a:srgbClr val="142337"/>
                </a:solidFill>
              </a:rPr>
              <a:t> del </a:t>
            </a:r>
            <a:r>
              <a:rPr lang="en-US" sz="1200" b="1" dirty="0" err="1">
                <a:solidFill>
                  <a:srgbClr val="142337"/>
                </a:solidFill>
              </a:rPr>
              <a:t>proyecto</a:t>
            </a:r>
            <a:endParaRPr b="1" dirty="0"/>
          </a:p>
        </p:txBody>
      </p:sp>
      <p:sp>
        <p:nvSpPr>
          <p:cNvPr id="133" name="Google Shape;133;p17"/>
          <p:cNvSpPr/>
          <p:nvPr/>
        </p:nvSpPr>
        <p:spPr>
          <a:xfrm>
            <a:off x="822960" y="1691640"/>
            <a:ext cx="10607040" cy="141732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2C45"/>
                </a:solidFill>
                <a:latin typeface="Arial"/>
              </a:rPr>
              <a:t>Objetivo general</a:t>
            </a: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Desarrollar y validar CorePulse, una aplicación modular para Windows que centralice diagnóstico, monitoreo, interpretación asistida por IA y optimización reversible mediante datos verificables.</a:t>
            </a:r>
          </a:p>
        </p:txBody>
      </p:sp>
      <p:sp>
        <p:nvSpPr>
          <p:cNvPr id="134" name="Google Shape;134;p17"/>
          <p:cNvSpPr/>
          <p:nvPr/>
        </p:nvSpPr>
        <p:spPr>
          <a:xfrm>
            <a:off x="822960" y="3474720"/>
            <a:ext cx="10607040" cy="233172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2C45"/>
                </a:solidFill>
                <a:latin typeface="Arial"/>
              </a:rPr>
              <a:t>Objetivos específicos</a:t>
            </a: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120" b="0">
                <a:solidFill>
                  <a:srgbClr val="1F2C45"/>
                </a:solidFill>
                <a:latin typeface="Arial"/>
              </a:rPr>
              <a:t>Identificar hardware principal y fuentes disponibles.</a:t>
            </a:r>
          </a:p>
          <a:p>
            <a:pPr>
              <a:spcAft>
                <a:spcPts val="100"/>
              </a:spcAft>
            </a:pPr>
            <a:r>
              <a:rPr sz="1120" b="0">
                <a:solidFill>
                  <a:srgbClr val="1F2C45"/>
                </a:solidFill>
                <a:latin typeface="Arial"/>
              </a:rPr>
              <a:t>Capturar telemetría real de CPU, GPU, RAM, discos, red y batería.</a:t>
            </a:r>
          </a:p>
          <a:p>
            <a:pPr>
              <a:spcAft>
                <a:spcPts val="100"/>
              </a:spcAft>
            </a:pPr>
            <a:r>
              <a:rPr sz="1120" b="0">
                <a:solidFill>
                  <a:srgbClr val="1F2C45"/>
                </a:solidFill>
                <a:latin typeface="Arial"/>
              </a:rPr>
              <a:t>Generar salud, alertas, tendencias, benchmark e informe PDF.</a:t>
            </a:r>
          </a:p>
          <a:p>
            <a:pPr>
              <a:spcAft>
                <a:spcPts val="100"/>
              </a:spcAft>
            </a:pPr>
            <a:r>
              <a:rPr sz="1120" b="0">
                <a:solidFill>
                  <a:srgbClr val="1F2C45"/>
                </a:solidFill>
                <a:latin typeface="Arial"/>
              </a:rPr>
              <a:t>Integrar Gaming, Overlay, Game Boost y planes de energía.</a:t>
            </a:r>
          </a:p>
          <a:p>
            <a:pPr>
              <a:spcAft>
                <a:spcPts val="100"/>
              </a:spcAft>
            </a:pPr>
            <a:r>
              <a:rPr sz="1120" b="0">
                <a:solidFill>
                  <a:srgbClr val="1F2C45"/>
                </a:solidFill>
                <a:latin typeface="Arial"/>
              </a:rPr>
              <a:t>Aplicar Tweaks con preflight, snapshot, verificación y rollback.</a:t>
            </a:r>
          </a:p>
          <a:p>
            <a:pPr>
              <a:spcAft>
                <a:spcPts val="100"/>
              </a:spcAft>
            </a:pPr>
            <a:r>
              <a:rPr sz="1120" b="0">
                <a:solidFill>
                  <a:srgbClr val="1F2C45"/>
                </a:solidFill>
                <a:latin typeface="Arial"/>
              </a:rPr>
              <a:t>Validar con pruebas funcionales, regresión y hardware real.</a:t>
            </a:r>
          </a:p>
        </p:txBody>
      </p:sp>
      <p:cxnSp>
        <p:nvCxnSpPr>
          <p:cNvPr id="135" name="Google Shape;135;p1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6" name="Google Shape;136;p17"/>
          <p:cNvSpPr txBox="1"/>
          <p:nvPr/>
        </p:nvSpPr>
        <p:spPr>
          <a:xfrm>
            <a:off x="1387730" y="388728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1"/>
                </a:solidFill>
              </a:rPr>
              <a:t>PROYECTO “CorePulse”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37" name="Google Shape;137;p1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38" name="Google Shape;138;p17" title="CorePulse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25" y="144375"/>
            <a:ext cx="785350" cy="7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18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5" name="Google Shape;145;p18"/>
          <p:cNvSpPr txBox="1"/>
          <p:nvPr/>
        </p:nvSpPr>
        <p:spPr>
          <a:xfrm>
            <a:off x="4799191" y="1349626"/>
            <a:ext cx="3180315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900" b="1" dirty="0" err="1">
                <a:solidFill>
                  <a:srgbClr val="1F2C45"/>
                </a:solidFill>
                <a:latin typeface="Arial"/>
              </a:rPr>
              <a:t>Alcances</a:t>
            </a:r>
            <a:r>
              <a:rPr sz="1900" b="1" dirty="0">
                <a:solidFill>
                  <a:srgbClr val="1F2C45"/>
                </a:solidFill>
                <a:latin typeface="Arial"/>
              </a:rPr>
              <a:t>, </a:t>
            </a:r>
            <a:r>
              <a:rPr sz="1900" b="1" dirty="0" err="1">
                <a:solidFill>
                  <a:srgbClr val="1F2C45"/>
                </a:solidFill>
                <a:latin typeface="Arial"/>
              </a:rPr>
              <a:t>factibilidad</a:t>
            </a:r>
            <a:r>
              <a:rPr sz="1900" b="1" dirty="0">
                <a:solidFill>
                  <a:srgbClr val="1F2C45"/>
                </a:solidFill>
                <a:latin typeface="Arial"/>
              </a:rPr>
              <a:t> y </a:t>
            </a:r>
            <a:r>
              <a:rPr sz="1900" b="1" dirty="0" err="1">
                <a:solidFill>
                  <a:srgbClr val="1F2C45"/>
                </a:solidFill>
                <a:latin typeface="Arial"/>
              </a:rPr>
              <a:t>limitaciones</a:t>
            </a:r>
            <a:endParaRPr b="1" dirty="0"/>
          </a:p>
        </p:txBody>
      </p:sp>
      <p:sp>
        <p:nvSpPr>
          <p:cNvPr id="146" name="Google Shape;146;p18"/>
          <p:cNvSpPr/>
          <p:nvPr/>
        </p:nvSpPr>
        <p:spPr>
          <a:xfrm>
            <a:off x="654500" y="2293375"/>
            <a:ext cx="5166300" cy="25773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dirty="0" err="1">
                <a:solidFill>
                  <a:srgbClr val="1F2C45"/>
                </a:solidFill>
                <a:latin typeface="Arial"/>
              </a:rPr>
              <a:t>Alcances</a:t>
            </a:r>
            <a:r>
              <a:rPr sz="1500" b="1" dirty="0">
                <a:solidFill>
                  <a:srgbClr val="1F2C45"/>
                </a:solidFill>
                <a:latin typeface="Arial"/>
              </a:rPr>
              <a:t> y </a:t>
            </a:r>
            <a:r>
              <a:rPr sz="1500" b="1" dirty="0" err="1">
                <a:solidFill>
                  <a:srgbClr val="1F2C45"/>
                </a:solidFill>
                <a:latin typeface="Arial"/>
              </a:rPr>
              <a:t>módulos</a:t>
            </a:r>
            <a:r>
              <a:rPr sz="1500" b="1" dirty="0">
                <a:solidFill>
                  <a:srgbClr val="1F2C45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F2C45"/>
                </a:solidFill>
                <a:latin typeface="Arial"/>
              </a:rPr>
              <a:t>actuales</a:t>
            </a:r>
            <a:endParaRPr sz="1500" b="1" dirty="0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500" b="1" dirty="0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100" b="0" dirty="0" err="1">
                <a:solidFill>
                  <a:srgbClr val="1F2C45"/>
                </a:solidFill>
                <a:latin typeface="Arial"/>
              </a:rPr>
              <a:t>Aplicación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Windows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en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Python 3.12+.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1F2C45"/>
                </a:solidFill>
                <a:latin typeface="Arial"/>
              </a:rPr>
              <a:t>Dashboard,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diagnóstico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telemetría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historial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y PDF.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1F2C45"/>
                </a:solidFill>
                <a:latin typeface="Arial"/>
              </a:rPr>
              <a:t>Gaming: overlay, benchmark, Game Boost y planes de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energía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1F2C45"/>
                </a:solidFill>
                <a:latin typeface="Arial"/>
              </a:rPr>
              <a:t>Tweaks Windows 11 con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detección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, rollback y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centro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de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restauración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1F2C45"/>
                </a:solidFill>
                <a:latin typeface="Arial"/>
              </a:rPr>
              <a:t>Centro de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salud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con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reparación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DISM/SFC.</a:t>
            </a:r>
          </a:p>
        </p:txBody>
      </p:sp>
      <p:sp>
        <p:nvSpPr>
          <p:cNvPr id="147" name="Google Shape;147;p18"/>
          <p:cNvSpPr/>
          <p:nvPr/>
        </p:nvSpPr>
        <p:spPr>
          <a:xfrm>
            <a:off x="6202275" y="2293375"/>
            <a:ext cx="5166300" cy="25773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dirty="0" err="1">
                <a:solidFill>
                  <a:srgbClr val="1F2C45"/>
                </a:solidFill>
                <a:latin typeface="Arial"/>
              </a:rPr>
              <a:t>Factibilidad</a:t>
            </a:r>
            <a:r>
              <a:rPr sz="1500" b="1" dirty="0">
                <a:solidFill>
                  <a:srgbClr val="1F2C45"/>
                </a:solidFill>
                <a:latin typeface="Arial"/>
              </a:rPr>
              <a:t> y </a:t>
            </a:r>
            <a:r>
              <a:rPr sz="1500" b="1" dirty="0" err="1">
                <a:solidFill>
                  <a:srgbClr val="1F2C45"/>
                </a:solidFill>
                <a:latin typeface="Arial"/>
              </a:rPr>
              <a:t>limitaciones</a:t>
            </a:r>
            <a:endParaRPr sz="1500" b="1" dirty="0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500" b="1" dirty="0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100" b="0" dirty="0" err="1">
                <a:solidFill>
                  <a:srgbClr val="1F2C45"/>
                </a:solidFill>
                <a:latin typeface="Arial"/>
              </a:rPr>
              <a:t>Factible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por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desarrollo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incremental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en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18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semanas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uso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de VS Code, GitHub y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bibliotecas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disponibles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r>
              <a:rPr sz="1100" b="0" dirty="0" err="1">
                <a:solidFill>
                  <a:srgbClr val="1F2C45"/>
                </a:solidFill>
                <a:latin typeface="Arial"/>
              </a:rPr>
              <a:t>Sensores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, SMART, FPS y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permisos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dependen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del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equipo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; se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controla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con REAL_OR_NA.</a:t>
            </a:r>
          </a:p>
          <a:p>
            <a:pPr>
              <a:spcAft>
                <a:spcPts val="100"/>
              </a:spcAft>
            </a:pPr>
            <a:r>
              <a:rPr sz="1100" b="0" dirty="0">
                <a:solidFill>
                  <a:srgbClr val="1F2C45"/>
                </a:solidFill>
                <a:latin typeface="Arial"/>
              </a:rPr>
              <a:t>IA/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Groq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e Internet son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opcionales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;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si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fallan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, el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diagnóstico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técnico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sigue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funcionando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r>
              <a:rPr sz="1100" b="0" dirty="0" err="1">
                <a:solidFill>
                  <a:srgbClr val="1F2C45"/>
                </a:solidFill>
                <a:latin typeface="Arial"/>
              </a:rPr>
              <a:t>Instalador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final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queda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para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cierre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 del </a:t>
            </a:r>
            <a:r>
              <a:rPr sz="1100" b="0" dirty="0" err="1">
                <a:solidFill>
                  <a:srgbClr val="1F2C45"/>
                </a:solidFill>
                <a:latin typeface="Arial"/>
              </a:rPr>
              <a:t>proyecto</a:t>
            </a:r>
            <a:r>
              <a:rPr sz="1100" b="0" dirty="0">
                <a:solidFill>
                  <a:srgbClr val="1F2C45"/>
                </a:solidFill>
                <a:latin typeface="Arial"/>
              </a:rPr>
              <a:t>.</a:t>
            </a:r>
          </a:p>
        </p:txBody>
      </p:sp>
      <p:cxnSp>
        <p:nvCxnSpPr>
          <p:cNvPr id="148" name="Google Shape;148;p18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9" name="Google Shape;149;p18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0" name="Google Shape;150;p18"/>
          <p:cNvSpPr txBox="1"/>
          <p:nvPr/>
        </p:nvSpPr>
        <p:spPr>
          <a:xfrm>
            <a:off x="1449105" y="585278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1"/>
                </a:solidFill>
              </a:rPr>
              <a:t>PROYECTO “CorePulse”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51" name="Google Shape;151;p18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52" name="Google Shape;152;p18" title="CorePulse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400" y="340925"/>
            <a:ext cx="785350" cy="7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1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9" name="Google Shape;159;p19"/>
          <p:cNvSpPr txBox="1"/>
          <p:nvPr/>
        </p:nvSpPr>
        <p:spPr>
          <a:xfrm>
            <a:off x="5126858" y="777350"/>
            <a:ext cx="1862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42337"/>
                </a:solidFill>
              </a:rPr>
              <a:t>Metodología de trabajo</a:t>
            </a:r>
            <a:endParaRPr b="1"/>
          </a:p>
        </p:txBody>
      </p:sp>
      <p:sp>
        <p:nvSpPr>
          <p:cNvPr id="160" name="Google Shape;160;p19"/>
          <p:cNvSpPr txBox="1"/>
          <p:nvPr/>
        </p:nvSpPr>
        <p:spPr>
          <a:xfrm>
            <a:off x="822960" y="160020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F2C45"/>
                </a:solidFill>
                <a:latin typeface="Arial"/>
              </a:rPr>
              <a:t>Scrum adaptado: iteraciones cortas, backlog, revisión semanal, pruebas por módulo y correcciones antes de cerrar cada versión.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623500" y="2331782"/>
            <a:ext cx="3246000" cy="21030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2C45"/>
                </a:solidFill>
                <a:latin typeface="Arial"/>
              </a:rPr>
              <a:t>1. Planificar</a:t>
            </a: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Problema y alcance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RF/RNF y riesgos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Arquitectura y datos</a:t>
            </a:r>
          </a:p>
        </p:txBody>
      </p:sp>
      <p:sp>
        <p:nvSpPr>
          <p:cNvPr id="162" name="Google Shape;162;p19"/>
          <p:cNvSpPr/>
          <p:nvPr/>
        </p:nvSpPr>
        <p:spPr>
          <a:xfrm>
            <a:off x="4434840" y="2331720"/>
            <a:ext cx="3246120" cy="210312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2C45"/>
                </a:solidFill>
                <a:latin typeface="Arial"/>
              </a:rPr>
              <a:t>2. Construir</a:t>
            </a: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Telemetría y GUI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IA, PDF y reportes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Gaming, Tweaks y reparación</a:t>
            </a:r>
          </a:p>
        </p:txBody>
      </p:sp>
      <p:sp>
        <p:nvSpPr>
          <p:cNvPr id="163" name="Google Shape;163;p19"/>
          <p:cNvSpPr/>
          <p:nvPr/>
        </p:nvSpPr>
        <p:spPr>
          <a:xfrm>
            <a:off x="8184004" y="2331782"/>
            <a:ext cx="3246000" cy="21030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F2C45"/>
                </a:solidFill>
                <a:latin typeface="Arial"/>
              </a:rPr>
              <a:t>3. Validar</a:t>
            </a: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500" b="1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Pruebas funcionales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Regresión y hardware real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N/A, fallback y rollback</a:t>
            </a:r>
          </a:p>
        </p:txBody>
      </p:sp>
      <p:sp>
        <p:nvSpPr>
          <p:cNvPr id="164" name="Google Shape;164;p19"/>
          <p:cNvSpPr txBox="1"/>
          <p:nvPr/>
        </p:nvSpPr>
        <p:spPr>
          <a:xfrm>
            <a:off x="838205" y="5137515"/>
            <a:ext cx="10515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1F2C45"/>
                </a:solidFill>
                <a:latin typeface="Arial"/>
              </a:rPr>
              <a:t>Roles: Tomás Hoyt lidera arquitectura, telemetría, IA/PDF, integración y versiones. Maximiliano Carrasco apoya interfaz, documentación, evidencias, validación funcional y exposición. Ambos revisan alcance, pruebas y decisiones de proyecto.</a:t>
            </a:r>
            <a:endParaRPr/>
          </a:p>
        </p:txBody>
      </p:sp>
      <p:cxnSp>
        <p:nvCxnSpPr>
          <p:cNvPr id="165" name="Google Shape;165;p19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66" name="Google Shape;166;p19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67" name="Google Shape;167;p19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8" name="Google Shape;168;p19"/>
          <p:cNvSpPr txBox="1"/>
          <p:nvPr/>
        </p:nvSpPr>
        <p:spPr>
          <a:xfrm>
            <a:off x="1449105" y="585278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1"/>
                </a:solidFill>
              </a:rPr>
              <a:t>PROYECTO “CorePulse”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69" name="Google Shape;169;p19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70" name="Google Shape;170;p19" title="CorePulse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400" y="340925"/>
            <a:ext cx="785350" cy="7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2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7" name="Google Shape;177;p20"/>
          <p:cNvSpPr txBox="1"/>
          <p:nvPr/>
        </p:nvSpPr>
        <p:spPr>
          <a:xfrm>
            <a:off x="4926900" y="1505251"/>
            <a:ext cx="2338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42337"/>
                </a:solidFill>
              </a:rPr>
              <a:t>Plan de </a:t>
            </a:r>
            <a:r>
              <a:rPr lang="en-US" sz="1200" b="1" dirty="0" err="1">
                <a:solidFill>
                  <a:srgbClr val="142337"/>
                </a:solidFill>
              </a:rPr>
              <a:t>trabajo</a:t>
            </a:r>
            <a:r>
              <a:rPr lang="en-US" sz="1200" b="1" dirty="0">
                <a:solidFill>
                  <a:srgbClr val="142337"/>
                </a:solidFill>
              </a:rPr>
              <a:t> y </a:t>
            </a:r>
            <a:r>
              <a:rPr lang="en-US" sz="1200" b="1" dirty="0" err="1">
                <a:solidFill>
                  <a:srgbClr val="142337"/>
                </a:solidFill>
              </a:rPr>
              <a:t>evidencias</a:t>
            </a:r>
            <a:endParaRPr b="1" dirty="0"/>
          </a:p>
        </p:txBody>
      </p:sp>
      <p:sp>
        <p:nvSpPr>
          <p:cNvPr id="178" name="Google Shape;178;p20"/>
          <p:cNvSpPr/>
          <p:nvPr/>
        </p:nvSpPr>
        <p:spPr>
          <a:xfrm>
            <a:off x="958777" y="2191049"/>
            <a:ext cx="4085700" cy="31617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dirty="0">
                <a:solidFill>
                  <a:srgbClr val="1F2C45"/>
                </a:solidFill>
                <a:latin typeface="Arial"/>
              </a:rPr>
              <a:t>Plan de </a:t>
            </a:r>
            <a:r>
              <a:rPr sz="1200" b="1" dirty="0" err="1">
                <a:solidFill>
                  <a:srgbClr val="1F2C45"/>
                </a:solidFill>
                <a:latin typeface="Arial"/>
              </a:rPr>
              <a:t>trabajo</a:t>
            </a:r>
            <a:endParaRPr sz="1200" b="1" dirty="0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200" b="1" dirty="0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080" b="0" dirty="0">
                <a:solidFill>
                  <a:srgbClr val="1F2C45"/>
                </a:solidFill>
                <a:latin typeface="Arial"/>
              </a:rPr>
              <a:t>S1-S4: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definición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alcance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, RF/RNF,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riesgos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y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evidencias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r>
              <a:rPr sz="1080" b="0" dirty="0">
                <a:solidFill>
                  <a:srgbClr val="1F2C45"/>
                </a:solidFill>
                <a:latin typeface="Arial"/>
              </a:rPr>
              <a:t>S3-S6: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arquitectura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modelo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datos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y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dependencias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r>
              <a:rPr sz="1080" b="0" dirty="0">
                <a:solidFill>
                  <a:srgbClr val="1F2C45"/>
                </a:solidFill>
                <a:latin typeface="Arial"/>
              </a:rPr>
              <a:t>S5-S14: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telemetría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diagnóstico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, PDF, Gaming, Red y Tweaks.</a:t>
            </a:r>
          </a:p>
          <a:p>
            <a:pPr>
              <a:spcAft>
                <a:spcPts val="100"/>
              </a:spcAft>
            </a:pPr>
            <a:r>
              <a:rPr sz="1080" b="0" dirty="0">
                <a:solidFill>
                  <a:srgbClr val="1F2C45"/>
                </a:solidFill>
                <a:latin typeface="Arial"/>
              </a:rPr>
              <a:t>S9-S18: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pruebas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, rollback,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correcciones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integración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y defensa.</a:t>
            </a:r>
          </a:p>
          <a:p>
            <a:pPr>
              <a:spcAft>
                <a:spcPts val="100"/>
              </a:spcAft>
            </a:pPr>
            <a:r>
              <a:rPr sz="1080" b="0" dirty="0" err="1">
                <a:solidFill>
                  <a:srgbClr val="1F2C45"/>
                </a:solidFill>
                <a:latin typeface="Arial"/>
              </a:rPr>
              <a:t>Recursos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: Windows, Python, VS Code, GitHub, SQLite/JSON y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librerías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.</a:t>
            </a:r>
          </a:p>
        </p:txBody>
      </p:sp>
      <p:sp>
        <p:nvSpPr>
          <p:cNvPr id="179" name="Google Shape;179;p20"/>
          <p:cNvSpPr/>
          <p:nvPr/>
        </p:nvSpPr>
        <p:spPr>
          <a:xfrm>
            <a:off x="6891655" y="2191049"/>
            <a:ext cx="3451200" cy="31617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dirty="0" err="1">
                <a:solidFill>
                  <a:srgbClr val="1F2C45"/>
                </a:solidFill>
                <a:latin typeface="Arial"/>
              </a:rPr>
              <a:t>Evidencias</a:t>
            </a:r>
            <a:r>
              <a:rPr sz="1200" b="1" dirty="0">
                <a:solidFill>
                  <a:srgbClr val="1F2C45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F2C45"/>
                </a:solidFill>
                <a:latin typeface="Arial"/>
              </a:rPr>
              <a:t>planificadas</a:t>
            </a:r>
            <a:endParaRPr sz="1200" b="1" dirty="0">
              <a:solidFill>
                <a:srgbClr val="142337"/>
              </a:solidFill>
            </a:endParaRPr>
          </a:p>
          <a:p>
            <a:pPr>
              <a:spcAft>
                <a:spcPts val="200"/>
              </a:spcAft>
            </a:pPr>
            <a:endParaRPr sz="1200" b="1" dirty="0">
              <a:solidFill>
                <a:srgbClr val="142337"/>
              </a:solidFill>
            </a:endParaRPr>
          </a:p>
          <a:p>
            <a:pPr>
              <a:spcAft>
                <a:spcPts val="100"/>
              </a:spcAft>
            </a:pPr>
            <a:r>
              <a:rPr sz="1080" b="0" dirty="0">
                <a:solidFill>
                  <a:srgbClr val="1F2C45"/>
                </a:solidFill>
                <a:latin typeface="Arial"/>
              </a:rPr>
              <a:t>Informe Fase 1 y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presentación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r>
              <a:rPr sz="1080" b="0" dirty="0" err="1">
                <a:solidFill>
                  <a:srgbClr val="1F2C45"/>
                </a:solidFill>
                <a:latin typeface="Arial"/>
              </a:rPr>
              <a:t>Repositorio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GitHub del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equipo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N°14.</a:t>
            </a:r>
          </a:p>
          <a:p>
            <a:pPr>
              <a:spcAft>
                <a:spcPts val="100"/>
              </a:spcAft>
            </a:pPr>
            <a:r>
              <a:rPr sz="1080" b="0" dirty="0" err="1">
                <a:solidFill>
                  <a:srgbClr val="1F2C45"/>
                </a:solidFill>
                <a:latin typeface="Arial"/>
              </a:rPr>
              <a:t>Documento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RF/RNF y backlog.</a:t>
            </a:r>
          </a:p>
          <a:p>
            <a:pPr>
              <a:spcAft>
                <a:spcPts val="100"/>
              </a:spcAft>
            </a:pPr>
            <a:r>
              <a:rPr sz="1080" b="0" dirty="0" err="1">
                <a:solidFill>
                  <a:srgbClr val="1F2C45"/>
                </a:solidFill>
                <a:latin typeface="Arial"/>
              </a:rPr>
              <a:t>Prototipo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CorePulse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V0.10.2.39w.</a:t>
            </a:r>
          </a:p>
          <a:p>
            <a:pPr>
              <a:spcAft>
                <a:spcPts val="100"/>
              </a:spcAft>
            </a:pPr>
            <a:r>
              <a:rPr sz="1080" b="0" dirty="0" err="1">
                <a:solidFill>
                  <a:srgbClr val="1F2C45"/>
                </a:solidFill>
                <a:latin typeface="Arial"/>
              </a:rPr>
              <a:t>Bitácora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pruebas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regresión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y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capturas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.</a:t>
            </a:r>
          </a:p>
          <a:p>
            <a:pPr>
              <a:spcAft>
                <a:spcPts val="100"/>
              </a:spcAft>
            </a:pPr>
            <a:r>
              <a:rPr sz="1080" b="0" dirty="0" err="1">
                <a:solidFill>
                  <a:srgbClr val="1F2C45"/>
                </a:solidFill>
                <a:latin typeface="Arial"/>
              </a:rPr>
              <a:t>Anexos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de </a:t>
            </a:r>
            <a:r>
              <a:rPr sz="1080" b="0" dirty="0" err="1">
                <a:solidFill>
                  <a:srgbClr val="1F2C45"/>
                </a:solidFill>
                <a:latin typeface="Arial"/>
              </a:rPr>
              <a:t>validación</a:t>
            </a:r>
            <a:r>
              <a:rPr sz="1080" b="0" dirty="0">
                <a:solidFill>
                  <a:srgbClr val="1F2C45"/>
                </a:solidFill>
                <a:latin typeface="Arial"/>
              </a:rPr>
              <a:t> y demo final.</a:t>
            </a:r>
          </a:p>
        </p:txBody>
      </p:sp>
      <p:cxnSp>
        <p:nvCxnSpPr>
          <p:cNvPr id="180" name="Google Shape;180;p20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3" name="Google Shape;183;p20"/>
          <p:cNvSpPr txBox="1"/>
          <p:nvPr/>
        </p:nvSpPr>
        <p:spPr>
          <a:xfrm>
            <a:off x="1449105" y="585278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1"/>
                </a:solidFill>
              </a:rPr>
              <a:t>PROYECTO “CorePulse”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85" name="Google Shape;185;p20" title="CorePulse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400" y="340925"/>
            <a:ext cx="785350" cy="7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/>
          <p:nvPr/>
        </p:nvSpPr>
        <p:spPr>
          <a:xfrm>
            <a:off x="0" y="758027"/>
            <a:ext cx="4085617" cy="0"/>
          </a:xfrm>
          <a:prstGeom prst="rect">
            <a:avLst/>
          </a:prstGeom>
          <a:solidFill>
            <a:srgbClr val="B4C8E6"/>
          </a:solidFill>
          <a:ln w="9525" cap="flat" cmpd="sng">
            <a:solidFill>
              <a:srgbClr val="B4C8E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66928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608076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49224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90372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731520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7726679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813816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854964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896112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937260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978408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1019556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1060704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11018520" y="16002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02336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66928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08076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49224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90372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731520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7726679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813816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854964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896112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937260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978408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1019556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1060704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11018520" y="202082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02336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43484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84632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649224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90372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731520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7726679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813816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854964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896112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937260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978408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019556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1060704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11018520" y="244144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023360" y="2862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434840" y="2862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846320" y="2862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257800" y="2862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8138160" y="2862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8549640" y="2862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8961120" y="2862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9372600" y="2862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9784080" y="2862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0195560" y="2862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10607040" y="2862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11018520" y="28620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02336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43484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84632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525780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66928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608076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854964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896112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937260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978408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1019556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1060704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11018520" y="328269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02336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43484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484632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525780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566928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608076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49224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90372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731520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978408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1019556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1060704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11018520" y="370332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023360" y="412394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434840" y="412394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846320" y="412394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5257800" y="412394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5669280" y="412394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6080760" y="412394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6492240" y="412394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6903720" y="412394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10607040" y="412394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11018520" y="412394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02336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43484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84632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525780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566928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608076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649224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690372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731520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7726679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813816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854964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896112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9372600" y="45445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94360" y="804672"/>
            <a:ext cx="9509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F2C45"/>
                </a:solidFill>
                <a:latin typeface="Arial"/>
              </a:rPr>
              <a:t>Cronograma general del proyecto (Carta Gantt)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685800" y="1225296"/>
            <a:ext cx="10835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1F2C45"/>
                </a:solidFill>
                <a:latin typeface="Arial"/>
              </a:rPr>
              <a:t>Planificación de 18 semanas: Fase 1 definición, Fase 2 desarrollo incremental y Fase 3 integración, validación y defensa.</a:t>
            </a:r>
            <a:endParaRPr/>
          </a:p>
        </p:txBody>
      </p:sp>
      <p:graphicFrame>
        <p:nvGraphicFramePr>
          <p:cNvPr id="300" name="Google Shape;300;p21"/>
          <p:cNvGraphicFramePr/>
          <p:nvPr/>
        </p:nvGraphicFramePr>
        <p:xfrm>
          <a:off x="384048" y="1627632"/>
          <a:ext cx="11293025" cy="3986800"/>
        </p:xfrm>
        <a:graphic>
          <a:graphicData uri="http://schemas.openxmlformats.org/drawingml/2006/table">
            <a:tbl>
              <a:tblPr firstRow="1" bandRow="1">
                <a:noFill/>
                <a:tableStyleId>{366D7AF1-D0FD-4DB1-AA53-920451AB5E03}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105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109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Actividad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Fase 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Fase 2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Fase 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0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S2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S4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S6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S8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S9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S12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S14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S16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S18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30" b="0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Problema y alcance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30" b="0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RF/RNF y evidencias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30" b="0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Arquitectura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30" b="0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Telemetría real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30" b="0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Interfaz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30" b="0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 diagnóstico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30" b="0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Pruebas y validación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30" b="0" u="none" strike="noStrike" cap="none">
                          <a:solidFill>
                            <a:srgbClr val="1423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Integración y defensa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01" name="Google Shape;301;p21"/>
          <p:cNvSpPr txBox="1"/>
          <p:nvPr/>
        </p:nvSpPr>
        <p:spPr>
          <a:xfrm>
            <a:off x="609590" y="5941882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1F2C45"/>
                </a:solidFill>
                <a:latin typeface="Arial"/>
              </a:rPr>
              <a:t>Hitos: alcance aprobado, arquitectura validada, prototipo funcional, pruebas/rollback, PDF/IA y versión integrada para defensa.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2"/>
          <p:cNvSpPr txBox="1"/>
          <p:nvPr/>
        </p:nvSpPr>
        <p:spPr>
          <a:xfrm>
            <a:off x="4663300" y="973600"/>
            <a:ext cx="3141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42337"/>
                </a:solidFill>
              </a:rPr>
              <a:t>Definición del stack tecnológico</a:t>
            </a:r>
            <a:endParaRPr b="1"/>
          </a:p>
        </p:txBody>
      </p:sp>
      <p:sp>
        <p:nvSpPr>
          <p:cNvPr id="308" name="Google Shape;308;p22"/>
          <p:cNvSpPr/>
          <p:nvPr/>
        </p:nvSpPr>
        <p:spPr>
          <a:xfrm>
            <a:off x="685825" y="1929395"/>
            <a:ext cx="3383400" cy="13260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F2C45"/>
                </a:solidFill>
                <a:latin typeface="Arial"/>
              </a:rPr>
              <a:t>Lenguaje y entorno</a:t>
            </a:r>
            <a:endParaRPr sz="1500"/>
          </a:p>
          <a:p>
            <a:pPr>
              <a:spcAft>
                <a:spcPts val="200"/>
              </a:spcAft>
            </a:pPr>
            <a:endParaRPr sz="1500"/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Python 3.12+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VS Code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GitHub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F2C45"/>
                </a:solidFill>
                <a:latin typeface="Arial"/>
              </a:rPr>
              <a:t>Windows 10/11 x64</a:t>
            </a:r>
          </a:p>
        </p:txBody>
      </p:sp>
      <p:sp>
        <p:nvSpPr>
          <p:cNvPr id="309" name="Google Shape;309;p22"/>
          <p:cNvSpPr/>
          <p:nvPr/>
        </p:nvSpPr>
        <p:spPr>
          <a:xfrm>
            <a:off x="4542240" y="1929408"/>
            <a:ext cx="3383400" cy="13260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F2C45"/>
                </a:solidFill>
                <a:latin typeface="Arial"/>
              </a:rPr>
              <a:t>Telemetría</a:t>
            </a:r>
            <a:endParaRPr/>
          </a:p>
          <a:p>
            <a:pPr>
              <a:spcAft>
                <a:spcPts val="200"/>
              </a:spcAft>
            </a:pPr>
            <a:endParaRPr/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psutil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WMI / pywin32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LibreHardwareMonitor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SMART real o N/A</a:t>
            </a:r>
          </a:p>
        </p:txBody>
      </p:sp>
      <p:sp>
        <p:nvSpPr>
          <p:cNvPr id="310" name="Google Shape;310;p22"/>
          <p:cNvSpPr/>
          <p:nvPr/>
        </p:nvSpPr>
        <p:spPr>
          <a:xfrm>
            <a:off x="8398679" y="1898720"/>
            <a:ext cx="3383400" cy="13260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F2C45"/>
                </a:solidFill>
                <a:latin typeface="Arial"/>
              </a:rPr>
              <a:t>Interfaz y reportes</a:t>
            </a:r>
            <a:endParaRPr/>
          </a:p>
          <a:p>
            <a:pPr>
              <a:spcAft>
                <a:spcPts val="200"/>
              </a:spcAft>
            </a:pPr>
            <a:endParaRPr/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CustomTkinter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Matplotlib / Pillow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ReportLab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PDF técnico + IA opcional</a:t>
            </a:r>
          </a:p>
        </p:txBody>
      </p:sp>
      <p:sp>
        <p:nvSpPr>
          <p:cNvPr id="311" name="Google Shape;311;p22"/>
          <p:cNvSpPr/>
          <p:nvPr/>
        </p:nvSpPr>
        <p:spPr>
          <a:xfrm>
            <a:off x="1782775" y="3708410"/>
            <a:ext cx="3840600" cy="12345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dirty="0">
                <a:solidFill>
                  <a:srgbClr val="1F2C45"/>
                </a:solidFill>
                <a:latin typeface="Arial"/>
              </a:rPr>
              <a:t>Gaming y Windows</a:t>
            </a:r>
            <a:endParaRPr dirty="0"/>
          </a:p>
          <a:p>
            <a:pPr>
              <a:spcAft>
                <a:spcPts val="200"/>
              </a:spcAft>
            </a:pPr>
            <a:endParaRPr dirty="0"/>
          </a:p>
          <a:p>
            <a:pPr>
              <a:spcAft>
                <a:spcPts val="100"/>
              </a:spcAft>
            </a:pPr>
            <a:r>
              <a:rPr sz="1150" b="0" dirty="0">
                <a:solidFill>
                  <a:srgbClr val="1F2C45"/>
                </a:solidFill>
                <a:latin typeface="Arial"/>
              </a:rPr>
              <a:t>RTSS / </a:t>
            </a:r>
            <a:r>
              <a:rPr sz="1150" b="0" dirty="0" err="1">
                <a:solidFill>
                  <a:srgbClr val="1F2C45"/>
                </a:solidFill>
                <a:latin typeface="Arial"/>
              </a:rPr>
              <a:t>PresentMon</a:t>
            </a:r>
            <a:endParaRPr sz="1150" b="0" dirty="0">
              <a:solidFill>
                <a:srgbClr val="1F2C45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150" b="0" dirty="0">
                <a:solidFill>
                  <a:srgbClr val="1F2C45"/>
                </a:solidFill>
                <a:latin typeface="Arial"/>
              </a:rPr>
              <a:t>Game Boost</a:t>
            </a:r>
          </a:p>
          <a:p>
            <a:pPr>
              <a:spcAft>
                <a:spcPts val="100"/>
              </a:spcAft>
            </a:pPr>
            <a:r>
              <a:rPr sz="1150" b="0" dirty="0" err="1">
                <a:solidFill>
                  <a:srgbClr val="1F2C45"/>
                </a:solidFill>
                <a:latin typeface="Arial"/>
              </a:rPr>
              <a:t>powercfg</a:t>
            </a:r>
            <a:endParaRPr sz="1150" b="0" dirty="0">
              <a:solidFill>
                <a:srgbClr val="1F2C45"/>
              </a:solidFill>
              <a:latin typeface="Arial"/>
            </a:endParaRPr>
          </a:p>
          <a:p>
            <a:pPr>
              <a:spcAft>
                <a:spcPts val="100"/>
              </a:spcAft>
            </a:pPr>
            <a:r>
              <a:rPr sz="1150" b="0" dirty="0">
                <a:solidFill>
                  <a:srgbClr val="1F2C45"/>
                </a:solidFill>
                <a:latin typeface="Arial"/>
              </a:rPr>
              <a:t>DISM / SFC</a:t>
            </a:r>
          </a:p>
        </p:txBody>
      </p:sp>
      <p:sp>
        <p:nvSpPr>
          <p:cNvPr id="312" name="Google Shape;312;p22"/>
          <p:cNvSpPr/>
          <p:nvPr/>
        </p:nvSpPr>
        <p:spPr>
          <a:xfrm>
            <a:off x="6384840" y="3708410"/>
            <a:ext cx="3840600" cy="1234500"/>
          </a:xfrm>
          <a:prstGeom prst="roundRect">
            <a:avLst>
              <a:gd name="adj" fmla="val 16667"/>
            </a:avLst>
          </a:prstGeom>
          <a:solidFill>
            <a:srgbClr val="EEF6FC"/>
          </a:solidFill>
          <a:ln w="9525" cap="flat" cmpd="sng">
            <a:solidFill>
              <a:srgbClr val="5880B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09725" tIns="73150" rIns="109725" bIns="73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F2C45"/>
                </a:solidFill>
                <a:latin typeface="Arial"/>
              </a:rPr>
              <a:t>Calidad y seguridad</a:t>
            </a:r>
            <a:endParaRPr/>
          </a:p>
          <a:p>
            <a:pPr>
              <a:spcAft>
                <a:spcPts val="200"/>
              </a:spcAft>
            </a:pPr>
            <a:endParaRPr/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REAL_OR_NA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FPS real o N/A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Snapshots y rollback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F2C45"/>
                </a:solidFill>
                <a:latin typeface="Arial"/>
              </a:rPr>
              <a:t>Pruebas de regresión</a:t>
            </a:r>
          </a:p>
        </p:txBody>
      </p:sp>
      <p:sp>
        <p:nvSpPr>
          <p:cNvPr id="313" name="Google Shape;313;p22"/>
          <p:cNvSpPr txBox="1"/>
          <p:nvPr/>
        </p:nvSpPr>
        <p:spPr>
          <a:xfrm>
            <a:off x="940755" y="5395900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 dirty="0" err="1">
                <a:solidFill>
                  <a:srgbClr val="1F2C45"/>
                </a:solidFill>
                <a:latin typeface="Arial"/>
              </a:rPr>
              <a:t>Preguntas</a:t>
            </a:r>
            <a:endParaRPr dirty="0"/>
          </a:p>
        </p:txBody>
      </p:sp>
      <p:cxnSp>
        <p:nvCxnSpPr>
          <p:cNvPr id="314" name="Google Shape;314;p2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15" name="Google Shape;315;p22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16" name="Google Shape;316;p22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17" name="Google Shape;317;p22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18" name="Google Shape;318;p22"/>
          <p:cNvSpPr txBox="1"/>
          <p:nvPr/>
        </p:nvSpPr>
        <p:spPr>
          <a:xfrm>
            <a:off x="1449105" y="585278"/>
            <a:ext cx="64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54850" bIns="36575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1"/>
                </a:solidFill>
              </a:rPr>
              <a:t>PROYECTO “CorePulse”</a:t>
            </a:r>
            <a:endParaRPr b="1">
              <a:solidFill>
                <a:schemeClr val="accent1"/>
              </a:solidFill>
            </a:endParaRPr>
          </a:p>
        </p:txBody>
      </p:sp>
      <p:cxnSp>
        <p:nvCxnSpPr>
          <p:cNvPr id="319" name="Google Shape;319;p22"/>
          <p:cNvCxnSpPr/>
          <p:nvPr/>
        </p:nvCxnSpPr>
        <p:spPr>
          <a:xfrm>
            <a:off x="61375" y="95457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20" name="Google Shape;320;p22" title="CorePulse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400" y="340925"/>
            <a:ext cx="785350" cy="7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941</Words>
  <Application>Microsoft Office PowerPoint</Application>
  <PresentationFormat>Widescreen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TOMAS . HOYT BARRIENTOS</cp:lastModifiedBy>
  <cp:revision>2</cp:revision>
  <dcterms:modified xsi:type="dcterms:W3CDTF">2026-09-07T20:24:16Z</dcterms:modified>
</cp:coreProperties>
</file>